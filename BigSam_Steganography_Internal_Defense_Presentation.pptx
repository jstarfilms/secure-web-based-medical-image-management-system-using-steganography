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3931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6B6D4"/>
                </a:solidFill>
                <a:latin typeface="Aptos"/>
              </a:rPr>
              <a:t>INTERNAL DEFENSE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969264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>
                <a:solidFill>
                  <a:srgbClr val="FFFFFF"/>
                </a:solidFill>
                <a:latin typeface="Aptos Display"/>
              </a:rPr>
              <a:t>Development of a Secure Web-Based Medical Image Management System Using Steganography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852928"/>
            <a:ext cx="76809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BD5E1"/>
                </a:solidFill>
                <a:latin typeface="Aptos"/>
              </a:rPr>
              <a:t>Protecting patient diagnosis data inside medical images without visible distortion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4389120"/>
            <a:ext cx="1234440" cy="12344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12680" y="4773168"/>
            <a:ext cx="868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 Display"/>
              </a:rPr>
              <a:t>LSB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4846320" cy="9144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4800600"/>
            <a:ext cx="109728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965192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dirty="0">
                <a:solidFill>
                  <a:srgbClr val="06B6D4"/>
                </a:solidFill>
                <a:latin typeface="Aptos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56" y="5202087"/>
            <a:ext cx="4846320" cy="2139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FFFFFF"/>
                </a:solidFill>
                <a:latin typeface="Aptos"/>
              </a:rPr>
              <a:t>OMONIYI SAMSON DAMILARE  |  DEPARTMENT OF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078" y="5460100"/>
            <a:ext cx="2743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dirty="0">
                <a:solidFill>
                  <a:srgbClr val="CBD5E1"/>
                </a:solidFill>
                <a:latin typeface="Aptos"/>
              </a:rPr>
              <a:t>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4A3B8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01/13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Presentation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Following the format supplied for the real/internal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" y="16916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92224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70992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Introduction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6916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92224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70992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Review of Literature and Related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0876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48471" y="16916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1" y="1792224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70992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Motivation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34639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392" y="30175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11810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303580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834639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99431" y="30175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2" y="311810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03580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Methodology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834639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48471" y="30175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1" y="311810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303580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Result and Discussion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16052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43434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" y="444398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7" y="436168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Contribution to Knowledge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16052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99431" y="43434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444398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8" y="436168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Conclusion and Recommendation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160520"/>
            <a:ext cx="329184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48471" y="434340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39911" y="4443983"/>
            <a:ext cx="25603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3688" y="4361688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F172A"/>
                </a:solidFill>
                <a:latin typeface="Aptos"/>
              </a:rP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Why secure medical image handling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65760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9728" cy="2933151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3246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3246120" cy="32918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Medical images often move with supporting diagnosis notes, patient identifiers, and clinical comments. If shared carelessly, these details can expose confidential health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33756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1874519"/>
            <a:ext cx="109728" cy="2933151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1581912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Steganography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965960"/>
            <a:ext cx="2926079" cy="32918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Steganography hides sensitive text inside an image file. Unlike visible encryption warnings, the image remains visually normal while carrying the embedded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109728" cy="2933151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81912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Project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65960"/>
            <a:ext cx="3017520" cy="32918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This project implements a secure web-based system that embeds and retrieves patient diagnosis text from medical images while preserving image quality.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715000"/>
            <a:ext cx="1325880" cy="310896"/>
          </a:xfrm>
          <a:prstGeom prst="round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779008"/>
            <a:ext cx="1234439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563EB"/>
                </a:solidFill>
                <a:latin typeface="Aptos"/>
              </a:rPr>
              <a:t>Confidentiality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5715000"/>
            <a:ext cx="1417320" cy="310896"/>
          </a:xfrm>
          <a:prstGeom prst="roundRect">
            <a:avLst/>
          </a:prstGeom>
          <a:solidFill>
            <a:srgbClr val="06B6D4"/>
          </a:solidFill>
          <a:ln w="50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5779008"/>
            <a:ext cx="132588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Aptos"/>
              </a:rPr>
              <a:t>Imperceptibility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715000"/>
            <a:ext cx="1143000" cy="310896"/>
          </a:xfrm>
          <a:prstGeom prst="roundRect">
            <a:avLst/>
          </a:prstGeom>
          <a:solidFill>
            <a:srgbClr val="14B8A6"/>
          </a:solidFill>
          <a:ln w="508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5779008"/>
            <a:ext cx="105156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B8A6"/>
                </a:solidFill>
                <a:latin typeface="Aptos"/>
              </a:rPr>
              <a:t>Auditability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5715000"/>
            <a:ext cx="1097280" cy="310896"/>
          </a:xfrm>
          <a:prstGeom prst="round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5779008"/>
            <a:ext cx="1005839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7C3AED"/>
                </a:solidFill>
                <a:latin typeface="Aptos"/>
              </a:rPr>
              <a:t>Web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Review of Literature and Related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Client-supplied literature review format: Objective • Methodology • Result •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68188"/>
              </p:ext>
            </p:extLst>
          </p:nvPr>
        </p:nvGraphicFramePr>
        <p:xfrm>
          <a:off x="502920" y="1389888"/>
          <a:ext cx="1120140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Contribution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Cheddad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Survey image steganography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Comparative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Capacity, security, imperceptibility trade-offs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Guides algorithm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Morkel et al.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Explain steganography principles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Conceptual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Hidden communication protects message presence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Supports use in sensitive data transfer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Sharma &amp; Prabha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Fast clinical image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LSB/client-side image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Efficient execution for real-time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Supports browser-based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Kouadri et al. (2025)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Medical image quality preservation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PSNR/MSE 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34155"/>
                          </a:solidFill>
                          <a:latin typeface="Aptos"/>
                        </a:rPr>
                        <a:t>High PSNR retains diagnostic value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334155"/>
                          </a:solidFill>
                          <a:latin typeface="Aptos"/>
                        </a:rPr>
                        <a:t>Basis for quality 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742432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0F172A"/>
                </a:solidFill>
                <a:latin typeface="Aptos"/>
              </a:rPr>
              <a:t>Gap addressed: a practical web system combining LSB steganography, authentication, and audit logging for medical image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The problem that led to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65959"/>
            <a:ext cx="100583" cy="298311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673351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Data privacy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2926079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Diagnosis notes can be exposed when images are transferred through general channels or unsecured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965959"/>
            <a:ext cx="100583" cy="298311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673351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Image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057400"/>
            <a:ext cx="2926079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Medical images must remain diagnostically useful; security must not visibly damage regions of interest.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337560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965959"/>
            <a:ext cx="100583" cy="298311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673351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057400"/>
            <a:ext cx="2926079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Clinical systems need traceability, so encryption and decryption events should be logged with user and file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What the system was designed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58191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08760"/>
            <a:ext cx="537667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334155"/>
                </a:solidFill>
                <a:latin typeface="Aptos"/>
              </a:rPr>
              <a:t>Develop a secure web-based dashboard for authenticated users.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97510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1901952"/>
            <a:ext cx="537667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334155"/>
                </a:solidFill>
                <a:latin typeface="Aptos"/>
              </a:rPr>
              <a:t>Embed patient diagnosis text into medical images using LSB steganography.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36829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295144"/>
            <a:ext cx="537667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334155"/>
                </a:solidFill>
                <a:latin typeface="Aptos"/>
              </a:rPr>
              <a:t>Recover hidden diagnosis text accurately during decryption.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7614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2688336"/>
            <a:ext cx="537667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334155"/>
                </a:solidFill>
                <a:latin typeface="Aptos"/>
              </a:rPr>
              <a:t>Preserve visual quality so the stego-image remains medically usable.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54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081528"/>
            <a:ext cx="537667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334155"/>
                </a:solidFill>
                <a:latin typeface="Aptos"/>
              </a:rPr>
              <a:t>Record encryption/decryption activities for audit and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417320"/>
            <a:ext cx="438912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20840" y="1965960"/>
            <a:ext cx="109728" cy="2662601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76872" y="1581912"/>
            <a:ext cx="397763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965960"/>
            <a:ext cx="3977639" cy="30632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334155"/>
                </a:solidFill>
                <a:latin typeface="Aptos"/>
              </a:rPr>
              <a:t>• Hidden text recovered without corruption
• Minimal visual difference between cover and stego-image
• Responsive browser processing
• Event logs stored through Prisma/SQLite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5532120"/>
            <a:ext cx="1005840" cy="310896"/>
          </a:xfrm>
          <a:prstGeom prst="round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5596128"/>
            <a:ext cx="9144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563EB"/>
                </a:solidFill>
                <a:latin typeface="Aptos"/>
              </a:rPr>
              <a:t>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532120"/>
            <a:ext cx="914400" cy="310896"/>
          </a:xfrm>
          <a:prstGeom prst="roundRect">
            <a:avLst/>
          </a:prstGeom>
          <a:solidFill>
            <a:srgbClr val="06B6D4"/>
          </a:solidFill>
          <a:ln w="50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5596128"/>
            <a:ext cx="82296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Aptos"/>
              </a:rPr>
              <a:t>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5532120"/>
            <a:ext cx="960120" cy="310896"/>
          </a:xfrm>
          <a:prstGeom prst="roundRect">
            <a:avLst/>
          </a:prstGeom>
          <a:solidFill>
            <a:srgbClr val="14B8A6"/>
          </a:solidFill>
          <a:ln w="508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5596128"/>
            <a:ext cx="86868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B8A6"/>
                </a:solidFill>
                <a:latin typeface="Aptos"/>
              </a:rPr>
              <a:t>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5532120"/>
            <a:ext cx="685800" cy="310896"/>
          </a:xfrm>
          <a:prstGeom prst="round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5596128"/>
            <a:ext cx="59436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7C3AED"/>
                </a:solidFill>
                <a:latin typeface="Aptos"/>
              </a:rPr>
              <a:t>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LSB embedding and recovery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73736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0939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Cover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737360" cy="685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4655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Diagnosis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560320"/>
            <a:ext cx="173736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27797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LSB 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560320"/>
            <a:ext cx="1737360" cy="6858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50992" y="27797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Stego PNG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560320"/>
            <a:ext cx="173736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1" y="27797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Decryption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560320"/>
            <a:ext cx="173736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02952" y="2779776"/>
            <a:ext cx="1591056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Recovered 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2212848"/>
            <a:ext cx="731520" cy="667512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14600" y="2880360"/>
            <a:ext cx="731520" cy="704088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3480" y="2880360"/>
            <a:ext cx="59436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0" y="2880360"/>
            <a:ext cx="411479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64040" y="2880360"/>
            <a:ext cx="36576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709160"/>
            <a:ext cx="3383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70916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1" y="4873752"/>
            <a:ext cx="2971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5257800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334155"/>
                </a:solidFill>
                <a:latin typeface="Aptos"/>
              </a:rPr>
              <a:t>Text is converted to binary and placed in the least significant bits of RGB pixel channels.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709160"/>
            <a:ext cx="3383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34840" y="4709160"/>
            <a:ext cx="109728" cy="9601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2" y="4873752"/>
            <a:ext cx="2971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5257800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334155"/>
                </a:solidFill>
                <a:latin typeface="Aptos"/>
              </a:rPr>
              <a:t>Bits are extracted until the terminator is found, reconstructing the diagnosis 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709160"/>
            <a:ext cx="3383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92440" y="4709160"/>
            <a:ext cx="109728" cy="960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1" y="4873752"/>
            <a:ext cx="2971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5257800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334155"/>
                </a:solidFill>
                <a:latin typeface="Aptos"/>
              </a:rPr>
              <a:t>Each operation is logged with file context, user, status, and timestamp.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System Architecture and Core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Implementation stack and responsibilities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874520"/>
            <a:ext cx="109728" cy="240524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Authentication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2926079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Protected routes for dashboard, encryption lab, decryption lab, and settings using Better Auth.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20"/>
            <a:ext cx="109728" cy="240524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581912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Steganography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65960"/>
            <a:ext cx="2926079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HTML5 Canvas extracts pixel data; LSB algorithm embeds and retrieves diagnosis text from image pixels.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3337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874520"/>
            <a:ext cx="109728" cy="2405249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1" y="1581912"/>
            <a:ext cx="29260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965960"/>
            <a:ext cx="2926079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Prisma ORM stores encryption and decryption events in SQLite for accountability and later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349240"/>
            <a:ext cx="1234440" cy="310896"/>
          </a:xfrm>
          <a:prstGeom prst="round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563EB"/>
                </a:solidFill>
                <a:latin typeface="Aptos"/>
              </a:rPr>
              <a:t>Next.js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5349240"/>
            <a:ext cx="1234440" cy="310896"/>
          </a:xfrm>
          <a:prstGeom prst="roundRect">
            <a:avLst/>
          </a:prstGeom>
          <a:solidFill>
            <a:srgbClr val="06B6D4"/>
          </a:solidFill>
          <a:ln w="50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9748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Aptos"/>
              </a:rPr>
              <a:t>React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349240"/>
            <a:ext cx="1234440" cy="310896"/>
          </a:xfrm>
          <a:prstGeom prst="roundRect">
            <a:avLst/>
          </a:prstGeom>
          <a:solidFill>
            <a:srgbClr val="14B8A6"/>
          </a:solidFill>
          <a:ln w="508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B8A6"/>
                </a:solidFill>
                <a:latin typeface="Aptos"/>
              </a:rPr>
              <a:t>Tailwind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349240"/>
            <a:ext cx="1234440" cy="310896"/>
          </a:xfrm>
          <a:prstGeom prst="round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7C3AED"/>
                </a:solidFill>
                <a:latin typeface="Aptos"/>
              </a:rPr>
              <a:t>Prisma 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80" y="5349240"/>
            <a:ext cx="1234440" cy="310896"/>
          </a:xfrm>
          <a:prstGeom prst="roundRect">
            <a:avLst/>
          </a:prstGeom>
          <a:solidFill>
            <a:srgbClr val="F59E0B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59E0B"/>
                </a:solidFill>
                <a:latin typeface="Aptos"/>
              </a:rPr>
              <a:t>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349240"/>
            <a:ext cx="1234440" cy="310896"/>
          </a:xfrm>
          <a:prstGeom prst="roundRect">
            <a:avLst/>
          </a:prstGeom>
          <a:solidFill>
            <a:srgbClr val="10B981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64040" y="5413248"/>
            <a:ext cx="1143000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Aptos"/>
              </a:rPr>
              <a:t>Canvas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Result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Encryption dashboard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ure_4_1_encryp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6995160" cy="393477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417320"/>
            <a:ext cx="35204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109728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Test Case 1: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843409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dirty="0">
                <a:solidFill>
                  <a:srgbClr val="334155"/>
                </a:solidFill>
                <a:latin typeface="Aptos"/>
              </a:rPr>
              <a:t>A standard chest X-ray image and diagnosis text were successfully processed into a downloadable </a:t>
            </a:r>
            <a:r>
              <a:rPr sz="1080" b="0" dirty="0" err="1">
                <a:solidFill>
                  <a:srgbClr val="334155"/>
                </a:solidFill>
                <a:latin typeface="Aptos"/>
              </a:rPr>
              <a:t>stego</a:t>
            </a:r>
            <a:r>
              <a:rPr sz="1080" b="0" dirty="0">
                <a:solidFill>
                  <a:srgbClr val="334155"/>
                </a:solidFill>
                <a:latin typeface="Aptos"/>
              </a:rPr>
              <a:t> PNG.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697480"/>
            <a:ext cx="35204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09560" y="2697480"/>
            <a:ext cx="109728" cy="1005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2862072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Visual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246120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334155"/>
                </a:solidFill>
                <a:latin typeface="Aptos"/>
              </a:rPr>
              <a:t>The output image remained visually indistinguishable from the original cover image.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977639"/>
            <a:ext cx="35204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09560" y="3977639"/>
            <a:ext cx="109728" cy="1005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4142231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User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526279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334155"/>
                </a:solidFill>
                <a:latin typeface="Aptos"/>
              </a:rPr>
              <a:t>Real-time status indicators confirmed processing and success 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66751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64748B"/>
                </a:solidFill>
                <a:latin typeface="Aptos"/>
              </a:rPr>
              <a:t>Figure 4.1: Screenshot of the Encryption Dashboard showing the uploaded X-ray and the diagnosis input 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09/13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Functional Testing and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Decryption, audit logging, and quality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ure_4_2_decryption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5897880" cy="33175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50876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1673351"/>
            <a:ext cx="16459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4748B"/>
                </a:solidFill>
                <a:latin typeface="Aptos"/>
              </a:rPr>
              <a:t>Recovered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47672"/>
            <a:ext cx="1645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B981"/>
                </a:solidFill>
                <a:latin typeface="Aptos"/>
              </a:rPr>
              <a:t>200-char diagnosis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0876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673351"/>
            <a:ext cx="16459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4748B"/>
                </a:solidFill>
                <a:latin typeface="Aptos"/>
              </a:rPr>
              <a:t>PSNR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947672"/>
            <a:ext cx="1645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Aptos"/>
              </a:rPr>
              <a:t>&gt; 55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92608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090672"/>
            <a:ext cx="16459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4748B"/>
                </a:solidFill>
                <a:latin typeface="Aptos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64992"/>
            <a:ext cx="1645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6B6D4"/>
                </a:solidFill>
                <a:latin typeface="Aptos"/>
              </a:rPr>
              <a:t>~150 ms / 1MB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92608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3090672"/>
            <a:ext cx="16459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4748B"/>
                </a:solidFill>
                <a:latin typeface="Aptos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64992"/>
            <a:ext cx="16459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3AED"/>
                </a:solidFill>
                <a:latin typeface="Aptos"/>
              </a:rPr>
              <a:t>Events logged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4434840"/>
            <a:ext cx="41605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95160" y="4434840"/>
            <a:ext cx="109728" cy="9601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51192" y="4599431"/>
            <a:ext cx="374903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4794944"/>
            <a:ext cx="3749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 dirty="0">
                <a:solidFill>
                  <a:srgbClr val="334155"/>
                </a:solidFill>
                <a:latin typeface="Aptos"/>
              </a:rPr>
              <a:t>The results indicate that the system balances security, usability, and image imperceptibility for medical image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56692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64748B"/>
                </a:solidFill>
                <a:latin typeface="Aptos"/>
              </a:rPr>
              <a:t>Figure 4.2: Screenshot of the Decryption Interface displaying the recovered patient diagnosis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Contribution to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What this project adds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4709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109728" cy="1325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581912"/>
            <a:ext cx="4297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Medical-data hiding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65960"/>
            <a:ext cx="4297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70" b="0">
                <a:solidFill>
                  <a:srgbClr val="334155"/>
                </a:solidFill>
                <a:latin typeface="Aptos"/>
              </a:rPr>
              <a:t>Demonstrates a usable path for pairing diagnosis text with medical image files without obvious external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4709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109728" cy="13258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81912"/>
            <a:ext cx="4297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Browser-side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65960"/>
            <a:ext cx="4297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70" b="0">
                <a:solidFill>
                  <a:srgbClr val="334155"/>
                </a:solidFill>
                <a:latin typeface="Aptos"/>
              </a:rPr>
              <a:t>Uses client-side Canvas processing, reducing the need to upload raw patient notes to a server before embedding.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91839"/>
            <a:ext cx="4709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3291839"/>
            <a:ext cx="109728" cy="13258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3456432"/>
            <a:ext cx="4297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Security +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840479"/>
            <a:ext cx="4297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70" b="0">
                <a:solidFill>
                  <a:srgbClr val="334155"/>
                </a:solidFill>
                <a:latin typeface="Aptos"/>
              </a:rPr>
              <a:t>Combines steganography with authenticated access and audit logging in one practical web prototype.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91839"/>
            <a:ext cx="470916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3291839"/>
            <a:ext cx="109728" cy="1325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56432"/>
            <a:ext cx="4297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Quality-aware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840479"/>
            <a:ext cx="4297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70" b="0">
                <a:solidFill>
                  <a:srgbClr val="334155"/>
                </a:solidFill>
                <a:latin typeface="Aptos"/>
              </a:rPr>
              <a:t>Uses imperceptibility, PSNR, speed, and functional recovery as defense-ready validation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Aptos Display"/>
              </a:rPr>
              <a:t>Conclusion and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Aptos"/>
              </a:rPr>
              <a:t>Summary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493776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9728" cy="4023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581912"/>
            <a:ext cx="45262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965960"/>
            <a:ext cx="4526280" cy="3337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solidFill>
                  <a:srgbClr val="334155"/>
                </a:solidFill>
                <a:latin typeface="Aptos"/>
              </a:rPr>
              <a:t>The developed system successfully embeds and retrieves diagnosis data inside medical images using LSB steganography. Testing showed accurate recovery, high visual imperceptibility, responsive processing, and traceable audit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493776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109728" cy="40233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81912"/>
            <a:ext cx="45262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Aptos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65960"/>
            <a:ext cx="4526280" cy="3337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>
                <a:solidFill>
                  <a:srgbClr val="334155"/>
                </a:solidFill>
                <a:latin typeface="Aptos"/>
              </a:rPr>
              <a:t>• Extend testing with larger DICOM datasets
• Combine LSB with stronger cryptographic encryption
• Add role-based clinical access controls
• Deploy with PostgreSQL and secure cloud storage
• Run usability testing with medical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Aptos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685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04120" y="-548640"/>
            <a:ext cx="2011680" cy="20116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-4114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7782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 Display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6B6D4"/>
                </a:solidFill>
                <a:latin typeface="Aptos"/>
              </a:rPr>
              <a:t>Selected literature and project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49047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17320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Cheddad, A., Condell, J., Curran, K., &amp; Mc Kevitt, P. (2010). Digital image steganography: Survey and analysis of current methods.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Morkel, T., Eloff, J. H. P., &amp; Olivier, M. S. (2005). An overview of image steganography.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734056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Provos, N., &amp; Honeyman, P. (2003). Hide and seek: An introduction to steganography.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55848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282696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Sharma, R., &amp; Prabha, S. (2025). Client-side image steganography for efficient clinical data protection.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7764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904488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Kouadri, A., et al. (2025). Quality evaluation of steganographic medical images using MSE and PSNR metrics.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59943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526280"/>
            <a:ext cx="10314432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E2E8F0"/>
                </a:solidFill>
                <a:latin typeface="Aptos"/>
              </a:rPr>
              <a:t>Project source files: Chapter Four.docx, README.md, and implemented Next.js application modules.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4A3B8"/>
                </a:solidFill>
                <a:latin typeface="Aptos"/>
              </a:rPr>
              <a:t>Secure Medical Image Management System using Steganography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0528"/>
            <a:ext cx="594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1147</Words>
  <Application>Microsoft Office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Ipinrere Oluleke-Oke</cp:lastModifiedBy>
  <cp:revision>2</cp:revision>
  <dcterms:created xsi:type="dcterms:W3CDTF">2013-01-27T09:14:16Z</dcterms:created>
  <dcterms:modified xsi:type="dcterms:W3CDTF">2026-06-20T18:05:37Z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2026-06-20T18:05:37Z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577bb43e-feaa-4aa1-8c16-02b96fd19f87</vt:lpwstr>
  </property>
  <property fmtid="{D5CDD505-2E9C-101B-9397-08002B2CF9AE}" pid="7" name="MSIP_Label_defa4170-0d19-0005-0004-bc88714345d2_ActionId">
    <vt:lpwstr>3f66ca13-9bcd-4332-9b63-c94c2bd83034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