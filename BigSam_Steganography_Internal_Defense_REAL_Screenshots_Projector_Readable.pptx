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822960"/>
            <a:ext cx="2103120" cy="2103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21240" y="-713232"/>
            <a:ext cx="2103120" cy="2103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-603504"/>
            <a:ext cx="2103120" cy="21031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Aptos"/>
              </a:rPr>
              <a:t>INTERNAL DEFENSE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005840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 Display"/>
              </a:rPr>
              <a:t>Development of a Secure Web-Based Medical Image Management System Using Steganography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788920"/>
            <a:ext cx="93268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Aptos"/>
              </a:rPr>
              <a:t>Protecting patient diagnosis data inside medical images without visible distortion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617720"/>
            <a:ext cx="5212080" cy="9875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4617720"/>
            <a:ext cx="118872" cy="9875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4984" y="4800600"/>
            <a:ext cx="47091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Presenter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5303520"/>
            <a:ext cx="470916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ptos"/>
              </a:rPr>
              <a:t>OMONIYI SAMSON DAMILARE
Department of Computer Science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800600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Aptos"/>
              </a:rPr>
              <a:t>Presenter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102352"/>
            <a:ext cx="438912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OMONIYI SAMSON DAMILARE
Department of Computer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80467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Secure Web-Based Medical Image Management System using Steganography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Aptos"/>
              </a:rPr>
              <a:t>01/12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822960"/>
            <a:ext cx="2103120" cy="2103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21240" y="-713232"/>
            <a:ext cx="2103120" cy="2103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-603504"/>
            <a:ext cx="2103120" cy="21031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Presentation 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tos"/>
              </a:rPr>
              <a:t>Large-type version for dim projectors and back-row readability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243584"/>
            <a:ext cx="12344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627632"/>
            <a:ext cx="31546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7552" y="181051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01852" y="1901952"/>
            <a:ext cx="201168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1847088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Introduction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27632"/>
            <a:ext cx="31546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90872" y="181051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5172" y="1901952"/>
            <a:ext cx="201168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1847088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Literature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27632"/>
            <a:ext cx="31546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94192" y="181051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8492" y="1901952"/>
            <a:ext cx="201168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1847088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Motivation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889504"/>
            <a:ext cx="31546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87552" y="3072384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01852" y="3163824"/>
            <a:ext cx="201168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3108960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Objectives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2889504"/>
            <a:ext cx="31546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690872" y="3072384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05172" y="3163824"/>
            <a:ext cx="201168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3108960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Methodology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2889504"/>
            <a:ext cx="31546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394192" y="3072384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8492" y="3163824"/>
            <a:ext cx="201168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88552" y="3108960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Results &amp; Discussion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151376"/>
            <a:ext cx="31546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87552" y="433425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01852" y="4425696"/>
            <a:ext cx="201168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81912" y="4370832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Contribution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4151376"/>
            <a:ext cx="31546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690872" y="433425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05172" y="4425696"/>
            <a:ext cx="201168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5232" y="4370832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Conclusion &amp; Recommendations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4151376"/>
            <a:ext cx="31546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394192" y="433425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8492" y="4425696"/>
            <a:ext cx="201168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88552" y="4370832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References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10528"/>
            <a:ext cx="80467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Secure Web-Based Medical Image Management System using Steganography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02/12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822960"/>
            <a:ext cx="2103120" cy="2103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21240" y="-713232"/>
            <a:ext cx="2103120" cy="2103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-603504"/>
            <a:ext cx="2103120" cy="21031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tos"/>
              </a:rPr>
              <a:t>Medical image security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243584"/>
            <a:ext cx="12344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118872" cy="3611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1691639"/>
            <a:ext cx="28346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Medical images carry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194560"/>
            <a:ext cx="2834639" cy="27706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ptos"/>
              </a:rPr>
              <a:t>X-rays and scans are usually shared with notes, findings, and patient identifiers.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508760"/>
            <a:ext cx="118872" cy="3611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1691639"/>
            <a:ext cx="28346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Steganography hides presence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194560"/>
            <a:ext cx="2834639" cy="27706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ptos"/>
              </a:rPr>
              <a:t>Sensitive text is embedded inside the image itself, while the image still looks normal.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08760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508760"/>
            <a:ext cx="118872" cy="36118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1691639"/>
            <a:ext cx="28346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This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194560"/>
            <a:ext cx="2834639" cy="27706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ptos"/>
              </a:rPr>
              <a:t>A secure web prototype for embedding and recovering patient diagnosis data from medical images.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577840"/>
            <a:ext cx="16002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664707"/>
            <a:ext cx="1508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Confidentiality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5577840"/>
            <a:ext cx="1417320" cy="38404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79" y="5664707"/>
            <a:ext cx="13258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Image Quality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5577840"/>
            <a:ext cx="1417320" cy="38404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5664707"/>
            <a:ext cx="13258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Audit Logging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577840"/>
            <a:ext cx="1234440" cy="38404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59" y="5664707"/>
            <a:ext cx="11430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Web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80467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Secure Web-Based Medical Image Management System using Steganography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03/12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822960"/>
            <a:ext cx="2103120" cy="2103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21240" y="-713232"/>
            <a:ext cx="2103120" cy="2103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-603504"/>
            <a:ext cx="2103120" cy="21031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Review of Literature and Related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tos"/>
              </a:rPr>
              <a:t>Objective • Methodology • Result • Contribution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243584"/>
            <a:ext cx="12344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118872" cy="4069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1691639"/>
            <a:ext cx="28346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Image steganography studies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194560"/>
            <a:ext cx="2834639" cy="32278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0">
                <a:solidFill>
                  <a:srgbClr val="334155"/>
                </a:solidFill>
                <a:latin typeface="Aptos"/>
              </a:rPr>
              <a:t>Prior work shows the key trade-off: hiding capacity versus image imperceptibility and robustness.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508760"/>
            <a:ext cx="118872" cy="4069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1691639"/>
            <a:ext cx="28346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Medical-image quality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194560"/>
            <a:ext cx="2834639" cy="32278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0">
                <a:solidFill>
                  <a:srgbClr val="334155"/>
                </a:solidFill>
                <a:latin typeface="Aptos"/>
              </a:rPr>
              <a:t>Related works use MSE and PSNR to confirm that embedded images remain visually reliable.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0876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508760"/>
            <a:ext cx="118872" cy="4069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1691639"/>
            <a:ext cx="28346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Gap addressed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194560"/>
            <a:ext cx="2834639" cy="32278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0">
                <a:solidFill>
                  <a:srgbClr val="334155"/>
                </a:solidFill>
                <a:latin typeface="Aptos"/>
              </a:rPr>
              <a:t>This project combines LSB steganography with authentication, browser workflow, and audit logging.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80467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Secure Web-Based Medical Image Management System using Steganography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04/12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822960"/>
            <a:ext cx="2103120" cy="2103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21240" y="-713232"/>
            <a:ext cx="2103120" cy="2103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-603504"/>
            <a:ext cx="2103120" cy="21031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tos"/>
              </a:rPr>
              <a:t>Why the system is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243584"/>
            <a:ext cx="12344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764792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1645920"/>
            <a:ext cx="9857232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0">
                <a:solidFill>
                  <a:srgbClr val="334155"/>
                </a:solidFill>
                <a:latin typeface="Aptos"/>
              </a:rPr>
              <a:t>Patient diagnosis notes must remain confidential during image transfer.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478024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1288" y="2359152"/>
            <a:ext cx="9857232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0">
                <a:solidFill>
                  <a:srgbClr val="334155"/>
                </a:solidFill>
                <a:latin typeface="Aptos"/>
              </a:rPr>
              <a:t>Medical images should not be visibly degraded by the security process.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191256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61288" y="3072384"/>
            <a:ext cx="9857232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0">
                <a:solidFill>
                  <a:srgbClr val="334155"/>
                </a:solidFill>
                <a:latin typeface="Aptos"/>
              </a:rPr>
              <a:t>Users need a simple web interface rather than command-line tools.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904487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61288" y="3785615"/>
            <a:ext cx="9857232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0">
                <a:solidFill>
                  <a:srgbClr val="334155"/>
                </a:solidFill>
                <a:latin typeface="Aptos"/>
              </a:rPr>
              <a:t>Operations should be traceable through audit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80467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Secure Web-Based Medical Image Management System using Steganography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05/12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822960"/>
            <a:ext cx="2103120" cy="2103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21240" y="-713232"/>
            <a:ext cx="2103120" cy="2103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-603504"/>
            <a:ext cx="2103120" cy="21031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tos"/>
              </a:rPr>
              <a:t>Project targets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243584"/>
            <a:ext cx="12344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655064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1536192"/>
            <a:ext cx="10131552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350" b="0">
                <a:solidFill>
                  <a:srgbClr val="334155"/>
                </a:solidFill>
                <a:latin typeface="Aptos"/>
              </a:rPr>
              <a:t>Build authenticated access to the medical image system.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276856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1288" y="2157984"/>
            <a:ext cx="10131552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350" b="0">
                <a:solidFill>
                  <a:srgbClr val="334155"/>
                </a:solidFill>
                <a:latin typeface="Aptos"/>
              </a:rPr>
              <a:t>Embed patient diagnosis text into PNG/JPG/DICOM-style image workflows.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898648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61288" y="2779776"/>
            <a:ext cx="10131552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350" b="0">
                <a:solidFill>
                  <a:srgbClr val="334155"/>
                </a:solidFill>
                <a:latin typeface="Aptos"/>
              </a:rPr>
              <a:t>Recover hidden diagnosis text accurately during decryption.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20439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61288" y="3401568"/>
            <a:ext cx="10131552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350" b="0">
                <a:solidFill>
                  <a:srgbClr val="334155"/>
                </a:solidFill>
                <a:latin typeface="Aptos"/>
              </a:rPr>
              <a:t>Preserve visual quality of the steganographic output image.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142232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61288" y="4023360"/>
            <a:ext cx="10131552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350" b="0">
                <a:solidFill>
                  <a:srgbClr val="334155"/>
                </a:solidFill>
                <a:latin typeface="Aptos"/>
              </a:rPr>
              <a:t>Store encryption and decryption actions in an audit log.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80467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Secure Web-Based Medical Image Management System using Steganography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06/12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822960"/>
            <a:ext cx="2103120" cy="2103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21240" y="-713232"/>
            <a:ext cx="2103120" cy="2103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-603504"/>
            <a:ext cx="2103120" cy="21031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tos"/>
              </a:rPr>
              <a:t>Least Significant Bit embedding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243584"/>
            <a:ext cx="12344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508760"/>
            <a:ext cx="118872" cy="3611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691639"/>
            <a:ext cx="28346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1. Prepare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194560"/>
            <a:ext cx="2834639" cy="27706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0">
                <a:solidFill>
                  <a:srgbClr val="334155"/>
                </a:solidFill>
                <a:latin typeface="Aptos"/>
              </a:rPr>
              <a:t>Upload the cover medical image and type the patient diagnosis payload.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508760"/>
            <a:ext cx="118872" cy="3611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1691639"/>
            <a:ext cx="28346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2. Embed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194560"/>
            <a:ext cx="2834639" cy="27706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0">
                <a:solidFill>
                  <a:srgbClr val="334155"/>
                </a:solidFill>
                <a:latin typeface="Aptos"/>
              </a:rPr>
              <a:t>Convert diagnosis text to bits and hide them in the least significant RGB pixel bits.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08760"/>
            <a:ext cx="33375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508760"/>
            <a:ext cx="118872" cy="36118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1691639"/>
            <a:ext cx="28346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3. Recover &amp;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194560"/>
            <a:ext cx="2834639" cy="27706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0">
                <a:solidFill>
                  <a:srgbClr val="334155"/>
                </a:solidFill>
                <a:latin typeface="Aptos"/>
              </a:rPr>
              <a:t>Upload the stego-image, extract the hidden text, and record the operation in the audit log.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5532120"/>
            <a:ext cx="132588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618988"/>
            <a:ext cx="1234439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Cover image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4600" y="5532120"/>
            <a:ext cx="1508760" cy="38404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0" y="5618988"/>
            <a:ext cx="1417319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Diagnosis text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5532120"/>
            <a:ext cx="1508760" cy="38404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80" y="5618988"/>
            <a:ext cx="1417319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LSB algorithm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5532120"/>
            <a:ext cx="1234440" cy="38404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35040" y="5618988"/>
            <a:ext cx="11430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Stego PNG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5532120"/>
            <a:ext cx="160020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0" y="5618988"/>
            <a:ext cx="1508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Recovered 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80467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Secure Web-Based Medical Image Management System using Steganography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07/12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822960"/>
            <a:ext cx="2103120" cy="2103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21240" y="-713232"/>
            <a:ext cx="2103120" cy="2103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-603504"/>
            <a:ext cx="2103120" cy="21031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Result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tos"/>
              </a:rPr>
              <a:t>Live browser screenshot: Encryption Lab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243584"/>
            <a:ext cx="12344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eal_encryption_lab_chr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635240" cy="343983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508760"/>
            <a:ext cx="2880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58200" y="1508760"/>
            <a:ext cx="118872" cy="1170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59952" y="1691639"/>
            <a:ext cx="23774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Real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2194560"/>
            <a:ext cx="2377439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ptos"/>
              </a:rPr>
              <a:t>Uploaded demo X-ray and entered patient diagnosis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2907792"/>
            <a:ext cx="2880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58200" y="2907792"/>
            <a:ext cx="118872" cy="1170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59952" y="3090672"/>
            <a:ext cx="23774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3593592"/>
            <a:ext cx="2377439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ptos"/>
              </a:rPr>
              <a:t>System produced a downloadable secure PNG.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4315968"/>
            <a:ext cx="2880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58200" y="4315968"/>
            <a:ext cx="118872" cy="1170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59952" y="4498848"/>
            <a:ext cx="23774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5001768"/>
            <a:ext cx="2377439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ptos"/>
              </a:rPr>
              <a:t>Encryption event was recorded by the app.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89320"/>
            <a:ext cx="102412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Aptos"/>
              </a:rPr>
              <a:t>Figure 4.1: Live Encryption Lab screenshot showing uploaded X-ray, diagnosis payload, and success state.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80467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Secure Web-Based Medical Image Management System using Steganography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08/12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822960"/>
            <a:ext cx="2103120" cy="2103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21240" y="-713232"/>
            <a:ext cx="2103120" cy="2103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-603504"/>
            <a:ext cx="2103120" cy="21031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Result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tos"/>
              </a:rPr>
              <a:t>Live browser screenshot: Decryption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243584"/>
            <a:ext cx="12344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eal_decryption_lab_chr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635240" cy="343983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508760"/>
            <a:ext cx="2880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58200" y="1508760"/>
            <a:ext cx="118872" cy="1170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59952" y="1691639"/>
            <a:ext cx="23774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2194560"/>
            <a:ext cx="2377439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ptos"/>
              </a:rPr>
              <a:t>Uploaded the encrypted PNG generated by the browser 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2907792"/>
            <a:ext cx="2880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58200" y="2907792"/>
            <a:ext cx="118872" cy="1170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59952" y="3090672"/>
            <a:ext cx="23774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Recovered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3593592"/>
            <a:ext cx="2377439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ptos"/>
              </a:rPr>
              <a:t>Diagnosis text was extracted successfully.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4315968"/>
            <a:ext cx="2880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58200" y="4315968"/>
            <a:ext cx="118872" cy="1170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59952" y="4498848"/>
            <a:ext cx="23774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5001768"/>
            <a:ext cx="2377439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ptos"/>
              </a:rPr>
              <a:t>Terminal log shows payload identified and data extracted.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89320"/>
            <a:ext cx="102412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Aptos"/>
              </a:rPr>
              <a:t>Figure 4.2: Live Decryption Lab screenshot displaying successful recovery of hidden diagnosis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80467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Secure Web-Based Medical Image Management System using Steganography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09/12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822960"/>
            <a:ext cx="2103120" cy="2103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21240" y="-713232"/>
            <a:ext cx="2103120" cy="2103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-603504"/>
            <a:ext cx="2103120" cy="21031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Contribution to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tos"/>
              </a:rPr>
              <a:t>What the project adds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243584"/>
            <a:ext cx="12344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508760"/>
            <a:ext cx="11887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691639"/>
            <a:ext cx="4480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Practical secure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194560"/>
            <a:ext cx="4480560" cy="5760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ptos"/>
              </a:rPr>
              <a:t>Pairs medical images with diagnosis text without visible external metadata.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118872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691639"/>
            <a:ext cx="4480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Browser-side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194560"/>
            <a:ext cx="4480560" cy="5760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ptos"/>
              </a:rPr>
              <a:t>Demonstrates client-side Canvas processing for steganography in a web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2900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3429000"/>
            <a:ext cx="118872" cy="1417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3611880"/>
            <a:ext cx="4480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Authentication +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114800"/>
            <a:ext cx="4480560" cy="5760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ptos"/>
              </a:rPr>
              <a:t>Adds controlled access and activity records to the steganographic process.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42900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429000"/>
            <a:ext cx="11887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3611880"/>
            <a:ext cx="4480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Defense-ready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4114800"/>
            <a:ext cx="4480560" cy="5760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ptos"/>
              </a:rPr>
              <a:t>Includes live screenshots, functional testing, and quality discussion.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80467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Secure Web-Based Medical Image Management System using Steganography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10/12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822960"/>
            <a:ext cx="2103120" cy="2103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21240" y="-713232"/>
            <a:ext cx="2103120" cy="2103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-603504"/>
            <a:ext cx="2103120" cy="21031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Conclusion and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tos"/>
              </a:rPr>
              <a:t>Summary and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243584"/>
            <a:ext cx="12344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51206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508760"/>
            <a:ext cx="118872" cy="4069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691639"/>
            <a:ext cx="46177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194560"/>
            <a:ext cx="4617720" cy="32278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0">
                <a:solidFill>
                  <a:srgbClr val="334155"/>
                </a:solidFill>
                <a:latin typeface="Aptos"/>
              </a:rPr>
              <a:t>The system successfully embeds and retrieves patient diagnosis data from medical images. The live browser test confirmed encryption, decryption, recovery, and audit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51206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118872" cy="4069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691639"/>
            <a:ext cx="46177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194560"/>
            <a:ext cx="4617720" cy="32278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50" b="0">
                <a:solidFill>
                  <a:srgbClr val="334155"/>
                </a:solidFill>
                <a:latin typeface="Aptos"/>
              </a:rPr>
              <a:t>• Test with larger DICOM datasets
• Combine LSB with stronger encryption
• Add role-based clinical access control
• Deploy with PostgreSQL and secure cloud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80467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Secure Web-Based Medical Image Management System using Steganography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11/12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822960"/>
            <a:ext cx="2103120" cy="21031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21240" y="-713232"/>
            <a:ext cx="2103120" cy="2103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-603504"/>
            <a:ext cx="2103120" cy="21031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77824"/>
            <a:ext cx="987552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Aptos"/>
              </a:rPr>
              <a:t>Selected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243584"/>
            <a:ext cx="12344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1536192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417320"/>
            <a:ext cx="10131552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50" b="0">
                <a:solidFill>
                  <a:srgbClr val="E2E8F0"/>
                </a:solidFill>
                <a:latin typeface="Aptos"/>
              </a:rPr>
              <a:t>Cheddad, A., Condell, J., Curran, K., &amp; Mc Kevitt, P. (2010). Digital image steganography: survey and analysis.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194560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2075688"/>
            <a:ext cx="10131552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50" b="0">
                <a:solidFill>
                  <a:srgbClr val="E2E8F0"/>
                </a:solidFill>
                <a:latin typeface="Aptos"/>
              </a:rPr>
              <a:t>Morkel, T., Eloff, J. H. P., &amp; Olivier, M. S. (2005). An overview of image steganography.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852928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2734056"/>
            <a:ext cx="10131552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50" b="0">
                <a:solidFill>
                  <a:srgbClr val="E2E8F0"/>
                </a:solidFill>
                <a:latin typeface="Aptos"/>
              </a:rPr>
              <a:t>Provos, N., &amp; Honeyman, P. (2003). Hide and seek: an introduction to steganography.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511296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3392424"/>
            <a:ext cx="10131552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50" b="0">
                <a:solidFill>
                  <a:srgbClr val="E2E8F0"/>
                </a:solidFill>
                <a:latin typeface="Aptos"/>
              </a:rPr>
              <a:t>Sharma, R., &amp; Prabha, S. (2025). Client-side image steganography for clinical data protection.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169663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4050791"/>
            <a:ext cx="10131552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50" b="0">
                <a:solidFill>
                  <a:srgbClr val="E2E8F0"/>
                </a:solidFill>
                <a:latin typeface="Aptos"/>
              </a:rPr>
              <a:t>Kouadri, A., et al. (2025). Quality evaluation of steganographic medical images using MSE and PSNR.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828031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" y="4709159"/>
            <a:ext cx="10131552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50" b="0">
                <a:solidFill>
                  <a:srgbClr val="E2E8F0"/>
                </a:solidFill>
                <a:latin typeface="Aptos"/>
              </a:rPr>
              <a:t>Project materials: Chapter Four.docx, Literature Review PDF, README, and implemented Next.js app.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3657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80467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Secure Web-Based Medical Image Management System using Steganography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Aptos"/>
              </a:rPr>
              <a:t>12/12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869</Words>
  <Application>Microsoft Office PowerPoint</Application>
  <PresentationFormat>Widescreen</PresentationFormat>
  <Paragraphs>140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Ipinrere Oluleke-Oke</cp:lastModifiedBy>
  <cp:revision>2</cp:revision>
  <dcterms:created xsi:type="dcterms:W3CDTF">2013-01-27T09:14:16Z</dcterms:created>
  <dcterms:modified xsi:type="dcterms:W3CDTF">2026-06-21T06:30:45Z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2026-06-21T06:30:45Z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577bb43e-feaa-4aa1-8c16-02b96fd19f87</vt:lpwstr>
  </property>
  <property fmtid="{D5CDD505-2E9C-101B-9397-08002B2CF9AE}" pid="7" name="MSIP_Label_defa4170-0d19-0005-0004-bc88714345d2_ActionId">
    <vt:lpwstr>de028648-515b-48e2-a212-f3fcf1213e81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